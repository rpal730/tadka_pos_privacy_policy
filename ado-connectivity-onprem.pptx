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flipH="1">
            <a:off x="8375904" y="0"/>
            <a:ext cx="3813048" cy="6858000"/>
          </a:xfrm>
          <a:prstGeom prst="round1Rect">
            <a:avLst>
              <a:gd name="adj" fmla="val 16667"/>
            </a:avLst>
          </a:prstGeom>
          <a:solidFill>
            <a:srgbClr val="418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be84-mosa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380744"/>
            <a:ext cx="4645152" cy="4087368"/>
          </a:xfrm>
          <a:prstGeom prst="rect">
            <a:avLst/>
          </a:prstGeom>
        </p:spPr>
      </p:pic>
      <p:pic>
        <p:nvPicPr>
          <p:cNvPr id="4" name="Picture 3" descr="cube84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99616"/>
            <a:ext cx="1422806" cy="6656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8056" y="2240280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000000"/>
                </a:solidFill>
                <a:latin typeface="Poppins"/>
              </a:rPr>
              <a:t>Azure DevOps to an on-prem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4160520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highlight>
                  <a:srgbClr val="FDCB18"/>
                </a:highlight>
                <a:latin typeface="Lato"/>
              </a:rPr>
              <a:t>Proving the connection works when traffic can only go outbound.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598932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890"/>
                </a:solidFill>
                <a:latin typeface="Lato"/>
              </a:rPr>
              <a:t>Internal enablement   ·   CUBE84   · 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be84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70" y="0"/>
            <a:ext cx="977493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212E"/>
                </a:solidFill>
                <a:latin typeface="Poppins"/>
              </a:rPr>
              <a:t>The connection only runs one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890"/>
                </a:solidFill>
                <a:latin typeface="Lato"/>
              </a:rPr>
              <a:t>Azure DevOps cannot reach into the network. The server has to reach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3840480"/>
          </a:xfrm>
          <a:prstGeom prst="roundRect">
            <a:avLst>
              <a:gd name="adj" fmla="val 4500"/>
            </a:avLst>
          </a:prstGeom>
          <a:solidFill>
            <a:srgbClr val="13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1E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Poppins"/>
              </a:rPr>
              <a:t>What works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596896"/>
            <a:ext cx="91440" cy="91440"/>
          </a:xfrm>
          <a:prstGeom prst="ellipse">
            <a:avLst/>
          </a:prstGeom>
          <a:solidFill>
            <a:srgbClr val="418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514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B9CCE8"/>
                </a:solidFill>
                <a:latin typeface="Lato"/>
              </a:rPr>
              <a:t>The server opens an outbound HTTPS connection on port 443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163824"/>
            <a:ext cx="91440" cy="91440"/>
          </a:xfrm>
          <a:prstGeom prst="ellipse">
            <a:avLst/>
          </a:prstGeom>
          <a:solidFill>
            <a:srgbClr val="418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0815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B9CCE8"/>
                </a:solidFill>
                <a:latin typeface="Lato"/>
              </a:rPr>
              <a:t>A self hosted agent polls Azure DevOps for waiting jobs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730752"/>
            <a:ext cx="91440" cy="91440"/>
          </a:xfrm>
          <a:prstGeom prst="ellipse">
            <a:avLst/>
          </a:prstGeom>
          <a:solidFill>
            <a:srgbClr val="418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6484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B9CCE8"/>
                </a:solidFill>
                <a:latin typeface="Lato"/>
              </a:rPr>
              <a:t>Git fetches, artifact uploads, and test results ride the same connection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297680"/>
            <a:ext cx="91440" cy="91440"/>
          </a:xfrm>
          <a:prstGeom prst="ellipse">
            <a:avLst/>
          </a:prstGeom>
          <a:solidFill>
            <a:srgbClr val="418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42153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B9CCE8"/>
                </a:solidFill>
                <a:latin typeface="Lato"/>
              </a:rPr>
              <a:t>Service connections and deployment groups work the same outbound 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87451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3212E"/>
                </a:solidFill>
                <a:latin typeface="Poppins"/>
              </a:rPr>
              <a:t>What will never work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2596896"/>
            <a:ext cx="91440" cy="91440"/>
          </a:xfrm>
          <a:prstGeom prst="ellipse">
            <a:avLst/>
          </a:prstGeom>
          <a:solidFill>
            <a:srgbClr val="FDC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22008" y="25146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D2636"/>
                </a:solidFill>
                <a:latin typeface="Lato"/>
              </a:rPr>
              <a:t>Azure DevOps opening a connection into the network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3163824"/>
            <a:ext cx="91440" cy="91440"/>
          </a:xfrm>
          <a:prstGeom prst="ellipse">
            <a:avLst/>
          </a:prstGeom>
          <a:solidFill>
            <a:srgbClr val="FDC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2008" y="308152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D2636"/>
                </a:solidFill>
                <a:latin typeface="Lato"/>
              </a:rPr>
              <a:t>Microsoft hosted agents reaching the server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3730752"/>
            <a:ext cx="91440" cy="91440"/>
          </a:xfrm>
          <a:prstGeom prst="ellipse">
            <a:avLst/>
          </a:prstGeom>
          <a:solidFill>
            <a:srgbClr val="FDC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22008" y="364845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D2636"/>
                </a:solidFill>
                <a:latin typeface="Lato"/>
              </a:rPr>
              <a:t>Inbound webhooks or service hooks landing on an internal endpoint</a:t>
            </a:r>
          </a:p>
        </p:txBody>
      </p:sp>
      <p:sp>
        <p:nvSpPr>
          <p:cNvPr id="23" name="Oval 22"/>
          <p:cNvSpPr/>
          <p:nvPr/>
        </p:nvSpPr>
        <p:spPr>
          <a:xfrm>
            <a:off x="6675120" y="4297680"/>
            <a:ext cx="91440" cy="91440"/>
          </a:xfrm>
          <a:prstGeom prst="ellipse">
            <a:avLst/>
          </a:prstGeom>
          <a:solidFill>
            <a:srgbClr val="FDC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22008" y="421538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D2636"/>
                </a:solidFill>
                <a:latin typeface="Lato"/>
              </a:rPr>
              <a:t>Any connectivity check started from the Azure DevOps side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B7890"/>
                </a:solidFill>
                <a:latin typeface="Lato"/>
              </a:rPr>
              <a:t>So every test runs from the on-prem server, outward. There is nothing to click in Azure DevOps that will ever reach the box.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be84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70" y="0"/>
            <a:ext cx="977493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212E"/>
                </a:solidFill>
                <a:latin typeface="Poppins"/>
              </a:rPr>
              <a:t>Check four things on the server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890"/>
                </a:solidFill>
                <a:latin typeface="Lato"/>
              </a:rPr>
              <a:t>Run these as the account the agent will use, not as your admin login.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03520" cy="2057400"/>
          </a:xfrm>
          <a:prstGeom prst="roundRect">
            <a:avLst>
              <a:gd name="adj" fmla="val 6000"/>
            </a:avLst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39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187FF"/>
                </a:solidFill>
                <a:latin typeface="Poppi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1762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3212E"/>
                </a:solidFill>
                <a:latin typeface="Poppins"/>
              </a:rPr>
              <a:t>Outbound 443 is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651760"/>
            <a:ext cx="3703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Confirm the server reaches the internet on TCP 443, directly or through a proxy. Port 22 matters only if you use Git over SSH.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74519"/>
            <a:ext cx="5303520" cy="2057400"/>
          </a:xfrm>
          <a:prstGeom prst="roundRect">
            <a:avLst>
              <a:gd name="adj" fmla="val 6000"/>
            </a:avLst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48839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187FF"/>
                </a:solidFill>
                <a:latin typeface="Poppi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762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3212E"/>
                </a:solidFill>
                <a:latin typeface="Poppins"/>
              </a:rPr>
              <a:t>Public DNS resolves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651760"/>
            <a:ext cx="3703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The server has to resolve dev.azure.com itself. Split DNS and internal only resolvers are a common cause of failure 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5303520" cy="2057400"/>
          </a:xfrm>
          <a:prstGeom prst="roundRect">
            <a:avLst>
              <a:gd name="adj" fmla="val 6000"/>
            </a:avLst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187FF"/>
                </a:solidFill>
                <a:latin typeface="Poppi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4622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3212E"/>
                </a:solidFill>
                <a:latin typeface="Poppins"/>
              </a:rPr>
              <a:t>The clock is in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37759"/>
            <a:ext cx="3703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Check NTP. Skew over five minutes breaks token validation and surfaces as a 401 that looks like a permissions problem.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160520"/>
            <a:ext cx="5303520" cy="2057400"/>
          </a:xfrm>
          <a:prstGeom prst="roundRect">
            <a:avLst>
              <a:gd name="adj" fmla="val 6000"/>
            </a:avLst>
          </a:prstGeom>
          <a:solidFill>
            <a:srgbClr val="EE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43484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187FF"/>
                </a:solidFill>
                <a:latin typeface="Poppin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622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3212E"/>
                </a:solidFill>
                <a:latin typeface="Poppins"/>
              </a:rPr>
              <a:t>The proxy is known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937759"/>
            <a:ext cx="3703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Find out whether a proxy is mandatory and whether it needs credentials. Proxy settings and certificate stores are per user on Windows.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be84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70" y="0"/>
            <a:ext cx="977493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212E"/>
                </a:solidFill>
                <a:latin typeface="Poppins"/>
              </a:rPr>
              <a:t>The endpoints the server has to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890"/>
                </a:solidFill>
                <a:latin typeface="Lato"/>
              </a:rPr>
              <a:t>All on port 443. Test each one, not just dev.azure.com.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dev.azure.com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819656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636"/>
                </a:solidFill>
                <a:latin typeface="Lato"/>
              </a:rPr>
              <a:t>Core service. Also allow {org}.visualstudio.com for older redirects.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04288"/>
            <a:ext cx="11109960" cy="14630"/>
          </a:xfrm>
          <a:prstGeom prst="rect">
            <a:avLst/>
          </a:prstGeom>
          <a:solidFill>
            <a:srgbClr val="E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login.microsoftonline.com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96896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636"/>
                </a:solidFill>
                <a:latin typeface="Lato"/>
              </a:rPr>
              <a:t>Entra ID sign in and token refresh.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81528"/>
            <a:ext cx="11109960" cy="14630"/>
          </a:xfrm>
          <a:prstGeom prst="rect">
            <a:avLst/>
          </a:prstGeom>
          <a:solidFill>
            <a:srgbClr val="E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app.vssps.visualstudio.com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374136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636"/>
                </a:solidFill>
                <a:latin typeface="Lato"/>
              </a:rPr>
              <a:t>Identity and token issuance for the agent.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58768"/>
            <a:ext cx="11109960" cy="14630"/>
          </a:xfrm>
          <a:prstGeom prst="rect">
            <a:avLst/>
          </a:prstGeom>
          <a:solidFill>
            <a:srgbClr val="E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download.agent.dev.azure.com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151376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636"/>
                </a:solidFill>
                <a:latin typeface="Lato"/>
              </a:rPr>
              <a:t>Agent download and auto update. Replaces the old azureedge.net entry.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36008"/>
            <a:ext cx="11109960" cy="14630"/>
          </a:xfrm>
          <a:prstGeom prst="rect">
            <a:avLst/>
          </a:prstGeom>
          <a:solidFill>
            <a:srgbClr val="E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*.vsassets.io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928616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636"/>
                </a:solidFill>
                <a:latin typeface="Lato"/>
              </a:rPr>
              <a:t>Log, test result, and artifact blob uploads. Often the last one blocked.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413248"/>
            <a:ext cx="11109960" cy="14630"/>
          </a:xfrm>
          <a:prstGeom prst="rect">
            <a:avLst/>
          </a:prstGeom>
          <a:solidFill>
            <a:srgbClr val="E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669279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pkgs.dev.azure.com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705855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D2636"/>
                </a:solidFill>
                <a:latin typeface="Lato"/>
              </a:rPr>
              <a:t>Azure Artifacts feeds. Only if the pipeline restores or publishes packages.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B7890"/>
                </a:solidFill>
                <a:latin typeface="Lato"/>
              </a:rPr>
              <a:t>Allowlist by DNS name, not by IP. The underlying Azure ranges rotate, and service tags are not supported for outbound connections.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be84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70" y="0"/>
            <a:ext cx="977493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1148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3212E"/>
                </a:solidFill>
                <a:latin typeface="Poppins"/>
              </a:rPr>
              <a:t>The agent registering is the real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7890"/>
                </a:solidFill>
                <a:latin typeface="Lato"/>
              </a:rPr>
              <a:t>Everything before this is preparation. This is the test that settles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18918"/>
            <a:ext cx="10332720" cy="25603"/>
          </a:xfrm>
          <a:prstGeom prst="rect">
            <a:avLst/>
          </a:prstGeom>
          <a:solidFill>
            <a:srgbClr val="E1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36775" y="2093976"/>
            <a:ext cx="475488" cy="475488"/>
          </a:xfrm>
          <a:prstGeom prst="ellipse">
            <a:avLst/>
          </a:prstGeom>
          <a:solidFill>
            <a:srgbClr val="13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283463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Install and configure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365760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Unpack the agent on the server and run config.sh or config.cmd with the org URL and a PAT. If it completes, DNS, TLS, proxy, and auth are all working.</a:t>
            </a:r>
          </a:p>
        </p:txBody>
      </p:sp>
      <p:sp>
        <p:nvSpPr>
          <p:cNvPr id="9" name="Oval 8"/>
          <p:cNvSpPr/>
          <p:nvPr/>
        </p:nvSpPr>
        <p:spPr>
          <a:xfrm>
            <a:off x="4440936" y="2093976"/>
            <a:ext cx="475488" cy="475488"/>
          </a:xfrm>
          <a:prstGeom prst="ellipse">
            <a:avLst/>
          </a:prstGeom>
          <a:solidFill>
            <a:srgbClr val="13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799" y="283463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Run it as a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2799" y="365760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Start it interactively first, then install it as a service under the account it will really use.</a:t>
            </a:r>
          </a:p>
        </p:txBody>
      </p:sp>
      <p:sp>
        <p:nvSpPr>
          <p:cNvPr id="12" name="Oval 11"/>
          <p:cNvSpPr/>
          <p:nvPr/>
        </p:nvSpPr>
        <p:spPr>
          <a:xfrm>
            <a:off x="7245096" y="2093976"/>
            <a:ext cx="475488" cy="475488"/>
          </a:xfrm>
          <a:prstGeom prst="ellipse">
            <a:avLst/>
          </a:prstGeom>
          <a:solidFill>
            <a:srgbClr val="13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6960" y="283463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Watch the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6960" y="365760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In Agent pools the agent should show Online and stay Online for ten minutes or more.</a:t>
            </a:r>
          </a:p>
        </p:txBody>
      </p:sp>
      <p:sp>
        <p:nvSpPr>
          <p:cNvPr id="15" name="Oval 14"/>
          <p:cNvSpPr/>
          <p:nvPr/>
        </p:nvSpPr>
        <p:spPr>
          <a:xfrm>
            <a:off x="10049256" y="2093976"/>
            <a:ext cx="475488" cy="475488"/>
          </a:xfrm>
          <a:prstGeom prst="ellipse">
            <a:avLst/>
          </a:prstGeom>
          <a:solidFill>
            <a:srgbClr val="13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83463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3212E"/>
                </a:solidFill>
                <a:latin typeface="Poppins"/>
              </a:rPr>
              <a:t>Queue a real job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657600"/>
            <a:ext cx="2651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1D2636"/>
                </a:solidFill>
                <a:latin typeface="Lato"/>
              </a:rPr>
              <a:t>Pin a job to that pool that publishes an artifact and test results, not one that only echoes the hostname.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6B7890"/>
                </a:solidFill>
                <a:latin typeface="Lato"/>
              </a:rPr>
              <a:t>An agent that flaps between Online and Offline points at a proxy idle timeout cutting the long poll, not at the agent. Downloads passing while uploads fail points at *.vsassets.io.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103120"/>
            <a:ext cx="502920" cy="50292"/>
          </a:xfrm>
          <a:prstGeom prst="rect">
            <a:avLst/>
          </a:prstGeom>
          <a:solidFill>
            <a:srgbClr val="FDC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231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Poppins"/>
              </a:rPr>
              <a:t>One test settles it:</a:t>
            </a:r>
          </a:p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4187FF"/>
                </a:solidFill>
                <a:latin typeface="Poppins"/>
              </a:rPr>
              <a:t>the agent stays Online and a job uploads.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6177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B9CCE8"/>
                </a:solidFill>
                <a:latin typeface="Lato"/>
              </a:rPr>
              <a:t>If Azure DevOps has to call into the network for webhooks or service hooks, outbound only will not carry it. That needs the on-prem side to poll, or a relay such as Azure Relay or Private Link.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