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4028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 i="0">
                <a:solidFill>
                  <a:srgbClr val="000000"/>
                </a:solidFill>
                <a:latin typeface="Poppins"/>
              </a:rPr>
              <a:t>How Azure Artifacts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3375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000000"/>
                </a:solidFill>
                <a:highlight>
                  <a:srgbClr val="FDCB18"/>
                </a:highlight>
                <a:latin typeface="Lato"/>
              </a:rPr>
              <a:t>Private package feeds, and the rules that govern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8932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890"/>
                </a:solidFill>
                <a:latin typeface="Lato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3212E"/>
                </a:solidFill>
                <a:latin typeface="Poppins"/>
              </a:rPr>
              <a:t>A feed is a private package registry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890"/>
                </a:solidFill>
                <a:latin typeface="Lato"/>
              </a:rPr>
              <a:t>It behaves like nuget.org or npmjs.com, except you decide who publishes and who consumes.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486400" cy="3840480"/>
          </a:xfrm>
          <a:prstGeom prst="roundRect">
            <a:avLst>
              <a:gd name="adj" fmla="val 4500"/>
            </a:avLst>
          </a:prstGeom>
          <a:solidFill>
            <a:srgbClr val="13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63640" y="1554480"/>
            <a:ext cx="5394960" cy="3840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1E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Poppins"/>
              </a:rPr>
              <a:t>What a feed gives you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596896"/>
            <a:ext cx="91440" cy="91440"/>
          </a:xfrm>
          <a:prstGeom prst="ellipse">
            <a:avLst/>
          </a:prstGeom>
          <a:solidFill>
            <a:srgbClr val="418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2514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B9CCE8"/>
                </a:solidFill>
                <a:latin typeface="Lato"/>
              </a:rPr>
              <a:t>One registry for npm, NuGet, Maven, Python, Cargo, and Universal Packages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163824"/>
            <a:ext cx="91440" cy="91440"/>
          </a:xfrm>
          <a:prstGeom prst="ellipse">
            <a:avLst/>
          </a:prstGeom>
          <a:solidFill>
            <a:srgbClr val="418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30815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B9CCE8"/>
                </a:solidFill>
                <a:latin typeface="Lato"/>
              </a:rPr>
              <a:t>A place to publish internal packages and control who can pull them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730752"/>
            <a:ext cx="91440" cy="91440"/>
          </a:xfrm>
          <a:prstGeom prst="ellipse">
            <a:avLst/>
          </a:prstGeom>
          <a:solidFill>
            <a:srgbClr val="418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6484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B9CCE8"/>
                </a:solidFill>
                <a:latin typeface="Lato"/>
              </a:rPr>
              <a:t>A cache of public packages, so an outage upstream does not stop your build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297680"/>
            <a:ext cx="91440" cy="91440"/>
          </a:xfrm>
          <a:prstGeom prst="ellipse">
            <a:avLst/>
          </a:prstGeom>
          <a:solidFill>
            <a:srgbClr val="418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42153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B9CCE8"/>
                </a:solidFill>
                <a:latin typeface="Lato"/>
              </a:rPr>
              <a:t>Version immutability. Once published, that version number is reserved for good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87451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3212E"/>
                </a:solidFill>
                <a:latin typeface="Poppins"/>
              </a:rPr>
              <a:t>What it is not</a:t>
            </a:r>
          </a:p>
        </p:txBody>
      </p:sp>
      <p:sp>
        <p:nvSpPr>
          <p:cNvPr id="16" name="Oval 15"/>
          <p:cNvSpPr/>
          <p:nvPr/>
        </p:nvSpPr>
        <p:spPr>
          <a:xfrm>
            <a:off x="6675120" y="2596896"/>
            <a:ext cx="91440" cy="91440"/>
          </a:xfrm>
          <a:prstGeom prst="ellipse">
            <a:avLst/>
          </a:prstGeom>
          <a:solidFill>
            <a:srgbClr val="FDC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22008" y="251460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D2636"/>
                </a:solidFill>
                <a:latin typeface="Lato"/>
              </a:rPr>
              <a:t>Not pipeline artifacts, which are build outputs attached to one run</a:t>
            </a:r>
          </a:p>
        </p:txBody>
      </p:sp>
      <p:sp>
        <p:nvSpPr>
          <p:cNvPr id="18" name="Oval 17"/>
          <p:cNvSpPr/>
          <p:nvPr/>
        </p:nvSpPr>
        <p:spPr>
          <a:xfrm>
            <a:off x="6675120" y="3163824"/>
            <a:ext cx="91440" cy="91440"/>
          </a:xfrm>
          <a:prstGeom prst="ellipse">
            <a:avLst/>
          </a:prstGeom>
          <a:solidFill>
            <a:srgbClr val="FDC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22008" y="308152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D2636"/>
                </a:solidFill>
                <a:latin typeface="Lato"/>
              </a:rPr>
              <a:t>Not pipeline caching, which only speeds up restores inside a pipeline</a:t>
            </a:r>
          </a:p>
        </p:txBody>
      </p:sp>
      <p:sp>
        <p:nvSpPr>
          <p:cNvPr id="20" name="Oval 19"/>
          <p:cNvSpPr/>
          <p:nvPr/>
        </p:nvSpPr>
        <p:spPr>
          <a:xfrm>
            <a:off x="6675120" y="3730752"/>
            <a:ext cx="91440" cy="91440"/>
          </a:xfrm>
          <a:prstGeom prst="ellipse">
            <a:avLst/>
          </a:prstGeom>
          <a:solidFill>
            <a:srgbClr val="FDC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22008" y="364845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D2636"/>
                </a:solidFill>
                <a:latin typeface="Lato"/>
              </a:rPr>
              <a:t>Not general file storage. Every package counts against your quota</a:t>
            </a:r>
          </a:p>
        </p:txBody>
      </p:sp>
      <p:sp>
        <p:nvSpPr>
          <p:cNvPr id="22" name="Oval 21"/>
          <p:cNvSpPr/>
          <p:nvPr/>
        </p:nvSpPr>
        <p:spPr>
          <a:xfrm>
            <a:off x="6675120" y="4297680"/>
            <a:ext cx="91440" cy="91440"/>
          </a:xfrm>
          <a:prstGeom prst="ellipse">
            <a:avLst/>
          </a:prstGeom>
          <a:solidFill>
            <a:srgbClr val="FDC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22008" y="421538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D2636"/>
                </a:solidFill>
                <a:latin typeface="Lato"/>
              </a:rPr>
              <a:t>Not a replacement for source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6B7890"/>
                </a:solidFill>
                <a:latin typeface="Lato"/>
              </a:rPr>
              <a:t>A single feed can hold all six package types at once. Most teams need far fewer feeds than they think.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3212E"/>
                </a:solidFill>
                <a:latin typeface="Poppins"/>
              </a:rPr>
              <a:t>Publish once, resolve from one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890"/>
                </a:solidFill>
                <a:latin typeface="Lato"/>
              </a:rPr>
              <a:t>The same four moves whether the package is yours or came from a public registry.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318918"/>
            <a:ext cx="10332720" cy="25603"/>
          </a:xfrm>
          <a:prstGeom prst="rect">
            <a:avLst/>
          </a:prstGeom>
          <a:solidFill>
            <a:srgbClr val="E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36775" y="2093976"/>
            <a:ext cx="475488" cy="475488"/>
          </a:xfrm>
          <a:prstGeom prst="ellipse">
            <a:avLst/>
          </a:prstGeom>
          <a:solidFill>
            <a:srgbClr val="13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2834639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3212E"/>
                </a:solidFill>
                <a:latin typeface="Poppins"/>
              </a:rPr>
              <a:t>Publish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3657600"/>
            <a:ext cx="26517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1D2636"/>
                </a:solidFill>
                <a:latin typeface="Lato"/>
              </a:rPr>
              <a:t>A pipeline or a developer pushes a package version to the feed. That version number is then reserved permanently.</a:t>
            </a:r>
          </a:p>
        </p:txBody>
      </p:sp>
      <p:sp>
        <p:nvSpPr>
          <p:cNvPr id="8" name="Oval 7"/>
          <p:cNvSpPr/>
          <p:nvPr/>
        </p:nvSpPr>
        <p:spPr>
          <a:xfrm>
            <a:off x="4440936" y="2093976"/>
            <a:ext cx="475488" cy="475488"/>
          </a:xfrm>
          <a:prstGeom prst="ellipse">
            <a:avLst/>
          </a:prstGeom>
          <a:solidFill>
            <a:srgbClr val="13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799" y="2834639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3212E"/>
                </a:solidFill>
                <a:latin typeface="Poppins"/>
              </a:rPr>
              <a:t>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2799" y="3657600"/>
            <a:ext cx="26517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1D2636"/>
                </a:solidFill>
                <a:latin typeface="Lato"/>
              </a:rPr>
              <a:t>The feed holds it in the @local view, alongside anything saved from upstream sources.</a:t>
            </a:r>
          </a:p>
        </p:txBody>
      </p:sp>
      <p:sp>
        <p:nvSpPr>
          <p:cNvPr id="11" name="Oval 10"/>
          <p:cNvSpPr/>
          <p:nvPr/>
        </p:nvSpPr>
        <p:spPr>
          <a:xfrm>
            <a:off x="7245096" y="2093976"/>
            <a:ext cx="475488" cy="475488"/>
          </a:xfrm>
          <a:prstGeom prst="ellipse">
            <a:avLst/>
          </a:prstGeom>
          <a:solidFill>
            <a:srgbClr val="13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6960" y="2834639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3212E"/>
                </a:solidFill>
                <a:latin typeface="Poppins"/>
              </a:rPr>
              <a:t>Authenticate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6960" y="3657600"/>
            <a:ext cx="26517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1D2636"/>
                </a:solidFill>
                <a:latin typeface="Lato"/>
              </a:rPr>
              <a:t>The consuming pipeline runs NuGetAuthenticate, npmAuthenticate, or PipAuthenticate to get a token.</a:t>
            </a:r>
          </a:p>
        </p:txBody>
      </p:sp>
      <p:sp>
        <p:nvSpPr>
          <p:cNvPr id="14" name="Oval 13"/>
          <p:cNvSpPr/>
          <p:nvPr/>
        </p:nvSpPr>
        <p:spPr>
          <a:xfrm>
            <a:off x="10049256" y="2093976"/>
            <a:ext cx="475488" cy="475488"/>
          </a:xfrm>
          <a:prstGeom prst="ellipse">
            <a:avLst/>
          </a:prstGeom>
          <a:solidFill>
            <a:srgbClr val="13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834639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3212E"/>
                </a:solidFill>
                <a:latin typeface="Poppins"/>
              </a:rPr>
              <a:t>Consume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3657600"/>
            <a:ext cx="26517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1D2636"/>
                </a:solidFill>
                <a:latin typeface="Lato"/>
              </a:rPr>
              <a:t>restore or install resolves from the feed first, then from its upstream sources in order.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6B7890"/>
                </a:solidFill>
                <a:latin typeface="Lato"/>
              </a:rPr>
              <a:t>Resolution order matters: packages published directly to the feed win, then copies already saved from upstream, then the upstream registries themselves.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3212E"/>
                </a:solidFill>
                <a:latin typeface="Poppins"/>
              </a:rPr>
              <a:t>Four settings decide how a feed behaves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890"/>
                </a:solidFill>
                <a:latin typeface="Lato"/>
              </a:rPr>
              <a:t>Get these right at creation. Changing them later is disruptive.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5303520" cy="2057400"/>
          </a:xfrm>
          <a:prstGeom prst="roundRect">
            <a:avLst>
              <a:gd name="adj" fmla="val 6000"/>
            </a:avLst>
          </a:prstGeom>
          <a:solidFill>
            <a:srgbClr val="EE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48839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187FF"/>
                </a:solidFill>
                <a:latin typeface="Poppi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21762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13212E"/>
                </a:solidFill>
                <a:latin typeface="Poppins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651760"/>
            <a:ext cx="37033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D2636"/>
                </a:solidFill>
                <a:latin typeface="Lato"/>
              </a:rPr>
              <a:t>Project scoped feeds are visible only inside the hosting project. Organization scoped feeds are visible across all of them. Start project scoped.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74519"/>
            <a:ext cx="5303520" cy="2057400"/>
          </a:xfrm>
          <a:prstGeom prst="roundRect">
            <a:avLst>
              <a:gd name="adj" fmla="val 6000"/>
            </a:avLst>
          </a:prstGeom>
          <a:solidFill>
            <a:srgbClr val="EE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48839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187FF"/>
                </a:solidFill>
                <a:latin typeface="Poppi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1762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13212E"/>
                </a:solidFill>
                <a:latin typeface="Poppins"/>
              </a:rPr>
              <a:t>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651760"/>
            <a:ext cx="37033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D2636"/>
                </a:solidFill>
                <a:latin typeface="Lato"/>
              </a:rPr>
              <a:t>Every feed ships with @local, @prerelease, and @release. Promote a version through them as it clears your quality gates.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60520"/>
            <a:ext cx="5303520" cy="2057400"/>
          </a:xfrm>
          <a:prstGeom prst="roundRect">
            <a:avLst>
              <a:gd name="adj" fmla="val 6000"/>
            </a:avLst>
          </a:prstGeom>
          <a:solidFill>
            <a:srgbClr val="EE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187FF"/>
                </a:solidFill>
                <a:latin typeface="Poppi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4622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13212E"/>
                </a:solidFill>
                <a:latin typeface="Poppins"/>
              </a:rPr>
              <a:t>Upstream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937759"/>
            <a:ext cx="37033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D2636"/>
                </a:solidFill>
                <a:latin typeface="Lato"/>
              </a:rPr>
              <a:t>Point the feed at nuget.org or npmjs.com. The first install by a collaborator saves a copy into the feed permanently.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160520"/>
            <a:ext cx="5303520" cy="2057400"/>
          </a:xfrm>
          <a:prstGeom prst="roundRect">
            <a:avLst>
              <a:gd name="adj" fmla="val 6000"/>
            </a:avLst>
          </a:prstGeom>
          <a:solidFill>
            <a:srgbClr val="EE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187FF"/>
                </a:solidFill>
                <a:latin typeface="Poppi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4622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13212E"/>
                </a:solidFill>
                <a:latin typeface="Poppins"/>
              </a:rPr>
              <a:t>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937759"/>
            <a:ext cx="37033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D2636"/>
                </a:solidFill>
                <a:latin typeface="Lato"/>
              </a:rPr>
              <a:t>Set a version count limit and a download protection window on day one. Storage creeps up quietly otherwise.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3212E"/>
                </a:solidFill>
                <a:latin typeface="Poppins"/>
              </a:rPr>
              <a:t>The numbers and limits worth knowing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890"/>
                </a:solidFill>
                <a:latin typeface="Lato"/>
              </a:rPr>
              <a:t>The parts that surprise teams after the first few months.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3212E"/>
                </a:solidFill>
                <a:latin typeface="Poppins"/>
              </a:rPr>
              <a:t>Package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819656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D2636"/>
                </a:solidFill>
                <a:latin typeface="Lato"/>
              </a:rPr>
              <a:t>npm, NuGet, Maven, Python, Cargo, and Universal Packages, all in one feed.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04288"/>
            <a:ext cx="11109960" cy="14630"/>
          </a:xfrm>
          <a:prstGeom prst="rect">
            <a:avLst/>
          </a:prstGeom>
          <a:solidFill>
            <a:srgbClr val="E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3212E"/>
                </a:solidFill>
                <a:latin typeface="Poppins"/>
              </a:rPr>
              <a:t>Free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596896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D2636"/>
                </a:solidFill>
                <a:latin typeface="Lato"/>
              </a:rPr>
              <a:t>2 GiB per organization. Beyond that, billing is per GiB consumed.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81528"/>
            <a:ext cx="11109960" cy="14630"/>
          </a:xfrm>
          <a:prstGeom prst="rect">
            <a:avLst/>
          </a:prstGeom>
          <a:solidFill>
            <a:srgbClr val="E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3212E"/>
                </a:solidFill>
                <a:latin typeface="Poppins"/>
              </a:rPr>
              <a:t>What 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374136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D2636"/>
                </a:solidFill>
                <a:latin typeface="Lato"/>
              </a:rPr>
              <a:t>Every package, including copies saved from upstream sources.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58768"/>
            <a:ext cx="11109960" cy="14630"/>
          </a:xfrm>
          <a:prstGeom prst="rect">
            <a:avLst/>
          </a:prstGeom>
          <a:solidFill>
            <a:srgbClr val="E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3212E"/>
                </a:solidFill>
                <a:latin typeface="Poppins"/>
              </a:rPr>
              <a:t>What does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151376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D2636"/>
                </a:solidFill>
                <a:latin typeface="Lato"/>
              </a:rPr>
              <a:t>Pipeline artifacts and pipeline caching do not contribute to storage charges.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36008"/>
            <a:ext cx="11109960" cy="14630"/>
          </a:xfrm>
          <a:prstGeom prst="rect">
            <a:avLst/>
          </a:prstGeom>
          <a:solidFill>
            <a:srgbClr val="E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9204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3212E"/>
                </a:solidFill>
                <a:latin typeface="Poppins"/>
              </a:rPr>
              <a:t>Recycle bin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928616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D2636"/>
                </a:solidFill>
                <a:latin typeface="Lato"/>
              </a:rPr>
              <a:t>Deleted packages sit there for 30 days and still count until removed.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13248"/>
            <a:ext cx="11109960" cy="14630"/>
          </a:xfrm>
          <a:prstGeom prst="rect">
            <a:avLst/>
          </a:prstGeom>
          <a:solidFill>
            <a:srgbClr val="E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669279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3212E"/>
                </a:solidFill>
                <a:latin typeface="Poppins"/>
              </a:rPr>
              <a:t>Over the limit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705855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D2636"/>
                </a:solidFill>
                <a:latin typeface="Lato"/>
              </a:rPr>
              <a:t>Without billing set up, exceeding 2 GiB drops the feed to read only.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6B7890"/>
                </a:solidFill>
                <a:latin typeface="Lato"/>
              </a:rPr>
              <a:t>Retention policies are the only thing that keeps storage flat. Nothing prunes a feed on its 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103120"/>
            <a:ext cx="502920" cy="50292"/>
          </a:xfrm>
          <a:prstGeom prst="rect">
            <a:avLst/>
          </a:prstGeom>
          <a:solidFill>
            <a:srgbClr val="FDC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2316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Poppins"/>
              </a:rPr>
              <a:t>A feed is a gate, not a folder:</a:t>
            </a:r>
          </a:p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4187FF"/>
                </a:solidFill>
                <a:latin typeface="Poppins"/>
              </a:rPr>
              <a:t>it decides what your teams publish and pull.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61772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B9CCE8"/>
                </a:solidFill>
                <a:latin typeface="Lato"/>
              </a:rPr>
              <a:t>Start project scoped, turn on upstream sources instead of listing public registries in config files, and set retention policies before the first package lands.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